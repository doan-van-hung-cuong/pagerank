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3256" y="996696"/>
            <a:ext cx="640080" cy="640080"/>
          </a:xfrm>
          <a:prstGeom prst="line">
            <a:avLst/>
          </a:prstGeom>
          <a:noFill/>
          <a:ln w="19050">
            <a:solidFill>
              <a:srgbClr val="2A47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3256" y="996696"/>
            <a:ext cx="-365760" cy="1005840"/>
          </a:xfrm>
          <a:prstGeom prst="line">
            <a:avLst/>
          </a:prstGeom>
          <a:noFill/>
          <a:ln w="19050">
            <a:solidFill>
              <a:srgbClr val="2A47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03336" y="1636776"/>
            <a:ext cx="-91440" cy="1097280"/>
          </a:xfrm>
          <a:prstGeom prst="line">
            <a:avLst/>
          </a:prstGeom>
          <a:noFill/>
          <a:ln w="19050">
            <a:solidFill>
              <a:srgbClr val="2A4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496" y="2002536"/>
            <a:ext cx="-274320" cy="822960"/>
          </a:xfrm>
          <a:prstGeom prst="line">
            <a:avLst/>
          </a:prstGeom>
          <a:noFill/>
          <a:ln w="19050">
            <a:solidFill>
              <a:srgbClr val="2A47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11896" y="2734056"/>
            <a:ext cx="-365760" cy="731520"/>
          </a:xfrm>
          <a:prstGeom prst="line">
            <a:avLst/>
          </a:prstGeom>
          <a:noFill/>
          <a:ln w="19050">
            <a:solidFill>
              <a:srgbClr val="2A47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23176" y="2825496"/>
            <a:ext cx="822960" cy="640080"/>
          </a:xfrm>
          <a:prstGeom prst="line">
            <a:avLst/>
          </a:prstGeom>
          <a:noFill/>
          <a:ln w="19050">
            <a:solidFill>
              <a:srgbClr val="2A47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7496" y="2002536"/>
            <a:ext cx="914400" cy="731520"/>
          </a:xfrm>
          <a:prstGeom prst="line">
            <a:avLst/>
          </a:prstGeom>
          <a:noFill/>
          <a:ln w="19050">
            <a:solidFill>
              <a:srgbClr val="2A47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914400"/>
            <a:ext cx="274320" cy="27432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1554480"/>
            <a:ext cx="182880" cy="18288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1920240"/>
            <a:ext cx="146304" cy="146304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2651760"/>
            <a:ext cx="237744" cy="237744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3383280"/>
            <a:ext cx="164592" cy="164592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2743200"/>
            <a:ext cx="128016" cy="12801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ĐỒ ÁN · BIG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417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PageRank trên hệ sinh thái Hadoop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" y="239572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so sánh hiệu năng &amp; khả năng mở rộng của các framework trên cùng một thuật toán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3611880"/>
            <a:ext cx="54864" cy="86868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661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Van Hung Cuong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doanvanhungcuong@gmail.com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6863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0.85   ·   ε = 10⁻³   ·   Barabási–Albert (m = 3)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Chúng ta sẽ đi qua sáu phần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59105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27048" y="1572768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thuật toán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PageRank, công thức, dangling node, hội tụ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965192" y="1481328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9784" y="159105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89320" y="1572768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cách triển khai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phiên bản: Core, mrjob, PySpark, Streaming, Java, Pig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" y="271576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7048" y="269748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thực nghiệm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dữ liệu, oracle NetworkX, chỉ số đánh giá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965192" y="2606040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9784" y="271576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89320" y="269748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đúng đắn, hội tụ, hiệu năng, bộ nhớ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" y="3840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27048" y="3822192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kỹ thuật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lỗi xuyên framework &amp; cách khắc phục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965192" y="3730752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9784" y="3840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989320" y="3822192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framework nào, hạn chế, công việc tương lai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PageRank: đơn giản về ý tưởng, phức tạp khi mở rộng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là gì?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bước đi ngẫu nhiên có hãm (damped random walk); phân phối dừng của nó cho điểm số mỗi đỉnh.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tiêu biểu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web (web search)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gợi ý (recommendation)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gian lận (fraud detection)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trích dẫn (citation analysis)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1417320"/>
            <a:ext cx="3108960" cy="3063240"/>
          </a:xfrm>
          <a:prstGeom prst="roundRect">
            <a:avLst>
              <a:gd name="adj" fmla="val 2388"/>
            </a:avLst>
          </a:prstGeom>
          <a:solidFill>
            <a:srgbClr val="102A43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42432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Vấn đề thực tế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42432" y="20574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thuật toán có thể viết bằng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mô hình lập trình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MapReduce, Hadoop Streaming, Pig, Spark (RDD/DataFrame), mrjob.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42432" y="315468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hệ quả — độ chính xác, thời gian, bộ nhớ, công sức lập trình —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9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hiếm khi được đo song song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trong cùng điều kiện.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ĐÓNG GÓP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Bốn đóng góp chính của đồ án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0934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2029968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Python thuần, không phụ thuộc; hỗ trợ PageRank chuẩn / có trọng số / cá nhân hóa, xử lý dangling đúng — làm nguồn chân lý (ground truth).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146304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48072" y="1645920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/>
          <p:nvPr/>
        </p:nvSpPr>
        <p:spPr>
          <a:xfrm>
            <a:off x="5148072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50992" y="160934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Phương pháp kiểm chứng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029968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minh 6 phiên bản tương đương số học so với oracle độc lập (NetworkX) ở mức ~10⁻⁹.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sánh hiệu năng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" y="3584448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thời gian &amp; khả năng mở rộng đơn nút bằng một harness điều khiển bằng cấu hình, có thể tái lập.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65192" y="301752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48072" y="3200400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1" name="Text 19"/>
          <p:cNvSpPr/>
          <p:nvPr/>
        </p:nvSpPr>
        <p:spPr>
          <a:xfrm>
            <a:off x="5148072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50992" y="316382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Catalogue lỗi kỹ thuật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66360" y="3584448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các lỗi cụ thể khi port thuật toán giữa các framework, kèm nguyên nhân gốc &amp; cách sửa.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 hình “người lướt web ngẫu nhiên”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xác suất </a:t>
            </a:r>
            <a:pPr indent="0" marL="0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đi theo một liên kết ra của trang hiện tại.
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xác suất </a:t>
            </a:r>
            <a:pPr indent="0" marL="0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d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“teleport” tới một trang theo phân phối p(u).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95728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ₖ₊₁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(u) = (1 − d)·p(u)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d · Σ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v→u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w(v,u)/W(v) · PR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ₖ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(v)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d · p(u) · Σ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v∈D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ₖ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32120" y="1371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công thức — ba biến thể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1755648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24144" y="182880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(standard)
</a:t>
            </a:r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trọng số, p đều = 1/N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32120" y="2624328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24144" y="269748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trọng số (weighted)
</a:t>
            </a:r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là trọng số cạnh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32120" y="3493008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24144" y="356616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hóa (personalized)
</a:t>
            </a:r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là vector xác suất bất kỳ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QUAN TRỌNG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Dangling node &amp; tính tự chuẩn hóa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41648" cy="3017520"/>
          </a:xfrm>
          <a:prstGeom prst="roundRect">
            <a:avLst>
              <a:gd name="adj" fmla="val 2424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Dangling node (không có liên kết ra)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084832"/>
            <a:ext cx="3639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rò rỉ khối xác suất (probability mass) khỏi hệ.
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Khắc phục: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phân phối khối lượng của chúng qua phân phối teleport p(u), giữ Σ PR(u) = 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36592" y="1463040"/>
            <a:ext cx="3904488" cy="3017520"/>
          </a:xfrm>
          <a:prstGeom prst="roundRect">
            <a:avLst>
              <a:gd name="adj" fmla="val 2424"/>
            </a:avLst>
          </a:prstGeom>
          <a:solidFill>
            <a:srgbClr val="102A43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Tính tự chuẩn hóa (self-normalization)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84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khối lượng tuân theo: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37760" y="2432304"/>
            <a:ext cx="3493008" cy="566928"/>
          </a:xfrm>
          <a:prstGeom prst="roundRect">
            <a:avLst>
              <a:gd name="adj" fmla="val 12903"/>
            </a:avLst>
          </a:prstGeom>
          <a:solidFill>
            <a:srgbClr val="1B3A5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468880"/>
            <a:ext cx="3310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E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Sₖ₊₁ = (1 − d) + d · Sₖ   ⟹   S =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7760" y="31546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luôn hội tụ về 1 bất kể vector khởi tạo. </a:t>
            </a:r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9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vậy bản Java có thể khởi tạo rank = 1.0 thay vì 1/N mà vẫn hội tụ đúng.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DỪNG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Hội tụ &amp; độ phức tạp tính toán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Δₖ &lt; 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đến khi sai khác L1 giữa hai vòng nhỏ hơn ngưỡng ε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47288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1737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ε = 10⁻³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30168" y="23957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hội tụ mặc định dùng cho mọi phiên bản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91656" y="15544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737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O(|E|)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74536" y="23957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mỗi vòng lặp tỉ lệ với số cạnh của đồ thị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Δₖ = Σ</a:t>
            </a:r>
            <a:pPr algn="ctr" indent="0" marL="0">
              <a:buNone/>
            </a:pPr>
            <a:r>
              <a:rPr lang="en-US" sz="11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ctr" indent="0" marL="0">
              <a:buNone/>
            </a:pPr>
            <a:r>
              <a:rPr lang="en-US" sz="14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PRₖ(u) − PRₖ₋₁(u) |   </a:t>
            </a:r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với đồ thị minh họa, thuật toán hội tụ sau 13 vòng lặp.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Các mô hình thực thi được khảo sát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MapReduce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7512" y="1975104"/>
            <a:ext cx="23408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phân phối rank theo liên kết ra; Reduce gộp đóng góp đến. Mẫu thiết kế kinh điển (Lin &amp; Dyer).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419856" y="146304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Hadoop Streaming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84448" y="1975104"/>
            <a:ext cx="23408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mô hình MapReduce ra cho chương trình bất kỳ qua stdin/stdout.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36792" y="146304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Pig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01384" y="1975104"/>
            <a:ext cx="23408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Latin: kịch bản dataflow quan hệ, biên dịch xuống MapReduce.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02920" y="304495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" y="31729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Spark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7512" y="3557016"/>
            <a:ext cx="23408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tập làm việc trong bộ nhớ qua các vòng lặp (RDD); DataFrame thêm tối ưu Catalyst.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419856" y="304495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84448" y="31729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mrjob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84448" y="3557016"/>
            <a:ext cx="23408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Bọc MapReduce cho Python; chạy inline / local / Hadoop.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36792" y="3044952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EF3F8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1384" y="31729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Tập trung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01384" y="3557016"/>
            <a:ext cx="23408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các framework đa dụng mà đội data thường vận hành — không phải engine chuyên đồ thị.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CÁCH TRIỂN KHAI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Tám phiên bản — cùng một thuật toán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371600"/>
                <a:gridCol w="1783080"/>
                <a:gridCol w="1417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 /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 thuộc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Dangling mass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đích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(Python)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Lặp trong bộ nhớ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Tái phân phối (đúng)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nút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mrjob (core)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engine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mrjob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Tái phân phối (đúng)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nút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mrjob (MapReduce)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MapReduce 1 lượt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mrjob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qua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Hadoop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 RDD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 đổi RDD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PySpark, JVM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Tái phân phối (đúng)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cluster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 DataFrame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hệ / Catalyst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PySpark, JVM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Tái phân phối (đúng)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cluster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Streaming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MapReduce qua stdio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qua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cluster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MapReduce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MapReduce API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Hadoop, JVM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qua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cluster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Pig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 Latin dataflow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Pig, Hadoop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qua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cluster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Python (Core, mrjob-core, PySpark) tái phân phối dangling mass → đúng cho mọi đồ thị. Họ JVM/Hadoop 1-lượt bỏ dangling mass → đúng khi mọi đỉnh đều có liên kết ra.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TRIỂN KHAI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Họ Python — chính xác cho mọi đồ thị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32688"/>
          </a:xfrm>
          <a:prstGeom prst="roundRect">
            <a:avLst>
              <a:gd name="adj" fmla="val 784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37360"/>
            <a:ext cx="384048" cy="384048"/>
          </a:xfrm>
          <a:prstGeom prst="ellipse">
            <a:avLst/>
          </a:prstGeom>
          <a:solidFill>
            <a:srgbClr val="1C5D99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55448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engine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07008" y="184708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Python thuần hiện thực trực tiếp công thức, đủ 3 biến thể, trả về lịch sử hội tụ, có CLI. Là oracle, được kiểm chứng lại bằng networkx.pagerank.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8138160" cy="932688"/>
          </a:xfrm>
          <a:prstGeom prst="roundRect">
            <a:avLst>
              <a:gd name="adj" fmla="val 784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2779776"/>
            <a:ext cx="384048" cy="384048"/>
          </a:xfrm>
          <a:prstGeom prst="ellipse">
            <a:avLst/>
          </a:prstGeom>
          <a:solidFill>
            <a:srgbClr val="1C5D99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59689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mrjob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07008" y="2889504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nhánh: nhánh core gọi reference engine (chính xác); nhánh MapReduce chạy job 1-lượt thật — mapper phát bản ghi cấu trúc + đóng góp rank, reducer áp dụng công thức.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02920" y="3547872"/>
            <a:ext cx="8138160" cy="932688"/>
          </a:xfrm>
          <a:prstGeom prst="roundRect">
            <a:avLst>
              <a:gd name="adj" fmla="val 784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" y="3822192"/>
            <a:ext cx="384048" cy="384048"/>
          </a:xfrm>
          <a:prstGeom prst="ellipse">
            <a:avLst/>
          </a:prstGeom>
          <a:solidFill>
            <a:srgbClr val="1C5D99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363931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PySpark (RDD &amp; DataFrame)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07008" y="393192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RDD: join adjacency với vector rank mỗi vòng, reduce theo key. DataFrame: diễn đạt quan hệ để Catalyst tối ưu. Cả hai tái phân phối dangling mass và cắt lineage mỗi vòng.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TRIỂN KHAI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Họ JVM / Hadoop &amp; thiết kế dangling-mass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664208"/>
            <a:ext cx="384048" cy="384048"/>
          </a:xfrm>
          <a:prstGeom prst="ellipse">
            <a:avLst/>
          </a:prstGeom>
          <a:solidFill>
            <a:srgbClr val="D9772B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5361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Hadoop Streaming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81051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Initializer phát trạng thái mỗi đỉnh; mapper &amp; reducer Python cho 1 vòng; driver shell nối init | map | sort | reduce, kèm chế độ mô phỏng cục bộ để kiểm thử.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2560320"/>
            <a:ext cx="384048" cy="384048"/>
          </a:xfrm>
          <a:prstGeom prst="ellipse">
            <a:avLst/>
          </a:prstGeom>
          <a:solidFill>
            <a:srgbClr val="D9772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43230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MapReduce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27066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3 giai đoạn (khởi tạo đồ thị, cập nhật lặp, sắp xếp giảm dần); dùng Hadoop counters theo dõi Δ (L1). Khởi tạo rank = 1.0 (nhờ tự chuẩn hóa).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" y="3456432"/>
            <a:ext cx="384048" cy="384048"/>
          </a:xfrm>
          <a:prstGeom prst="ellipse">
            <a:avLst/>
          </a:prstGeom>
          <a:solidFill>
            <a:srgbClr val="D9772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332841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Pig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60273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kịch bản Pig Latin (init, iterate, sort) diễn đạt cùng dataflow theo kiểu khai báo.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phân phối dangling mass toàn cục trong một lượt MapReduce </a:t>
            </a:r>
            <a:pPr indent="0" marL="0">
              <a:buNone/>
            </a:pPr>
            <a:r>
              <a:rPr lang="en-US" sz="1150" b="1" i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thêm bước gộp/broadcast — để dành cho công việc tương lai.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THỰC NGHIỆM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Tập dữ liệu, oracle, chỉ số &amp; môi trường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70048" cy="3017520"/>
          </a:xfrm>
          <a:prstGeom prst="rect">
            <a:avLst/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2670048" cy="457200"/>
          </a:xfrm>
          <a:prstGeom prst="rect">
            <a:avLst/>
          </a:prstGeom>
          <a:solidFill>
            <a:srgbClr val="1C5D99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Tập dữ liệu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230428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có hướng Barabási–Albert (m = 3, seed cố định) — phân phối bậc lũy thừa, giống web/MXH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∈ {10³, 5×10³, 10⁴}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10 đỉnh &amp; đồ thị có dangling để kiểm tra tính đúng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9856" y="1463040"/>
            <a:ext cx="2670048" cy="3017520"/>
          </a:xfrm>
          <a:prstGeom prst="rect">
            <a:avLst/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9856" y="1463040"/>
            <a:ext cx="2670048" cy="45720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truth &amp; chỉ số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02736" y="2029968"/>
            <a:ext cx="230428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độc lập: networkx.pagerank (SciPy), tol = 10⁻¹²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tuyệt đối lớn nhất mỗi đỉnh; Δ (L1) mỗi vòng; số vòng hội tụ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chạy (wall-clock) &amp; bộ nhớ đỉnh (peak RSS)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1463040"/>
            <a:ext cx="2670048" cy="3017520"/>
          </a:xfrm>
          <a:prstGeom prst="rect">
            <a:avLst/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1463040"/>
            <a:ext cx="2670048" cy="457200"/>
          </a:xfrm>
          <a:prstGeom prst="rect">
            <a:avLst/>
          </a:prstGeom>
          <a:solidFill>
            <a:srgbClr val="D977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Môi trường &amp; tái lập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19672" y="2029968"/>
            <a:ext cx="230428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Linux đơn nút (Ubuntu 22.04, x86-64, CPython 3.10) = ảnh CI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điều khiển bằng cấu hình, tự bỏ qua framework thiếu runtime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 build/test/lint mỗi commit; mọi số liệu là đo thật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(1/4)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Tính đúng đắn: tương đương số học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4572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 sánh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 |Δ|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vs NetworkX — chuẩn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× 10⁻¹²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vs NetworkX — cá nhân hóa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 × 10⁻¹²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vs NetworkX — có trọng số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× 10⁻¹²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vs NetworkX — đồ thị 10³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× 10⁻¹²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vs NetworkX — dangling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× 10⁻¹³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mrjob (core/MR) vs Core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× 10⁻⁹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Streaming vs Core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× 10⁻⁸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accura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481328"/>
            <a:ext cx="324612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41605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khớp NetworkX ở mức 10⁻¹².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bản phân tán khớp Core ở mức 10⁻⁹–10⁻⁸ — đúng bằng sàn do lưu rank với 8 chữ số thập phân.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(2/4)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Hội tụ: Δ (L1) giảm đơn điệu</a:t>
            </a:r>
            <a:endParaRPr lang="en-US" sz="2700" dirty="0"/>
          </a:p>
        </p:txBody>
      </p:sp>
      <p:pic>
        <p:nvPicPr>
          <p:cNvPr id="4" name="Image 0" descr="conver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417320"/>
            <a:ext cx="370332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087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6656" y="1773936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07008" y="16184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đơn điệu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khác L1 giữa hai vòng liên tiếp giảm đều theo từng bước lặp.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532888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" y="2798064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07008" y="264261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ngưỡng tại vòng 13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đồ thị minh họa, Δ cắt ε = 10⁻³ ở vòng lặp thứ 13.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557016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" y="3822192"/>
            <a:ext cx="384048" cy="38404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07008" y="366674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mỗi vòng O(|E|)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phiên bản đều cùng độ phức tạp tiệm cận — khác biệt nằm ở hằng số.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(3/4)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Hiệu năng đơn nút (30 vòng lặp)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N=10³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N=5×10³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N=10⁴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(Python)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/ 13.4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/ 18.4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/ 24.6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mrjob (core)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 / 24.5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 / 29.2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 / 35.5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Hadoop Streaming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 / 9.6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 / 11.6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 / 13.9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ô = thời gian (s) / bộ nhớ đỉnh (MB)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35204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3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in-memory nhanh nhất ở mọi cỡ. </a:t>
            </a:r>
            <a:pPr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mrjob thêm overhead khiêm tốn (1.3–1.8×); Hadoop Streaming chậm hơn ~5–13× do tạo tiến trình &amp; tuần tự hóa lại toàn bộ trạng thái mỗi vòng.</a:t>
            </a:r>
            <a:endParaRPr lang="en-US" sz="1130" dirty="0"/>
          </a:p>
        </p:txBody>
      </p:sp>
      <p:pic>
        <p:nvPicPr>
          <p:cNvPr id="7" name="Image 0" descr="runtime_sca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463040"/>
            <a:ext cx="3383280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(4/4)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Speedup &amp; bộ nhớ — đánh đổi thời gian–bộ nhớ</a:t>
            </a:r>
            <a:endParaRPr lang="en-US" sz="2700" dirty="0"/>
          </a:p>
        </p:txBody>
      </p:sp>
      <p:pic>
        <p:nvPicPr>
          <p:cNvPr id="4" name="Image 0" descr="speed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81328"/>
            <a:ext cx="3886200" cy="2651760"/>
          </a:xfrm>
          <a:prstGeom prst="rect">
            <a:avLst/>
          </a:prstGeom>
        </p:spPr>
      </p:pic>
      <p:pic>
        <p:nvPicPr>
          <p:cNvPr id="5" name="Image 1" descr="memory_scal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481328"/>
            <a:ext cx="3886200" cy="2651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so với Core (Python): &lt; 1 nghĩa là chậm hơn — overhead framework chi phối ở cỡ đơn nút.</a:t>
            </a:r>
            <a:endParaRPr lang="en-US" sz="1030" dirty="0"/>
          </a:p>
        </p:txBody>
      </p:sp>
      <p:sp>
        <p:nvSpPr>
          <p:cNvPr id="7" name="Text 3"/>
          <p:cNvSpPr/>
          <p:nvPr/>
        </p:nvSpPr>
        <p:spPr>
          <a:xfrm>
            <a:off x="470916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đỉnh: Hadoop Streaming nhỏ nhất — đổi thời gian lấy footprint nhỏ (streaming thay vì giữ toàn đồ thị).</a:t>
            </a:r>
            <a:endParaRPr lang="en-US" sz="1030" dirty="0"/>
          </a:p>
        </p:txBody>
      </p:sp>
      <p:sp>
        <p:nvSpPr>
          <p:cNvPr id="8" name="Text 4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THẢO LUẬN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Bốn bài học kỹ thuật xuyên framework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D9772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0934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Lineage của Spark phải bị cắt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088" y="2011680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Self-join mỗi vòng làm query plan phình vô hạn → driver hết heap khi chỉ đang dựng plan. Cache không đủ; dùng localCheckpoint() để materialize &amp; cắt lineage.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965192" y="146304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48072" y="1645920"/>
            <a:ext cx="365760" cy="365760"/>
          </a:xfrm>
          <a:prstGeom prst="ellipse">
            <a:avLst/>
          </a:prstGeom>
          <a:solidFill>
            <a:srgbClr val="D9772B"/>
          </a:solidFill>
          <a:ln/>
        </p:spPr>
      </p:sp>
      <p:sp>
        <p:nvSpPr>
          <p:cNvPr id="11" name="Text 9"/>
          <p:cNvSpPr/>
          <p:nvPr/>
        </p:nvSpPr>
        <p:spPr>
          <a:xfrm>
            <a:off x="5148072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50992" y="160934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Đường dẫn file:// tường minh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66360" y="2011680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phân giải đường dẫn tương đối theo HDFS thay vì đĩa cục bộ → phát URI file:// rõ ràng cho path không có scheme.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D9772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16382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RDD.localCheckpoint() trả None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566160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với DataFrame: nó đánh dấu RDD tại chỗ. Gán lại biến → tạo dataset null một cách âm thầm.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965192" y="301752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48072" y="3200400"/>
            <a:ext cx="365760" cy="365760"/>
          </a:xfrm>
          <a:prstGeom prst="ellipse">
            <a:avLst/>
          </a:prstGeom>
          <a:solidFill>
            <a:srgbClr val="D9772B"/>
          </a:solidFill>
          <a:ln/>
        </p:spPr>
      </p:sp>
      <p:sp>
        <p:nvSpPr>
          <p:cNvPr id="21" name="Text 19"/>
          <p:cNvSpPr/>
          <p:nvPr/>
        </p:nvSpPr>
        <p:spPr>
          <a:xfrm>
            <a:off x="5148072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50992" y="316382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mrjob phụ thuộc distutils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66360" y="3566160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distutils bị bỏ ở Python 3.12 → test harness phải phát hiện &amp; skip trên trình thông dịch mới.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02920" y="45537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lỗi nào là lỗi thuật toán — nhưng mỗi lỗi đều có thể âm thầm làm sai kết quả hoặc sập job trong sản xuất.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Chọn framework nào?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Đồ thị vừa bộ nhớ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thực in-memory đơn giản &amp; nhanh nhất. Framework phân tán chỉ được biện minh bởi khối lượng dữ liệu, khả năng chịu lỗi và tích hợp cluster — không phải tốc độ đơn nút.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5D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Khi cần phân tán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49300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ngắn gọn nhất, hưởng lợi Catalyst.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713232" y="3822192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API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kiểm soát tường minh nhất.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713232" y="4151376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/ Streaming / Pig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khi Hadoop đã là chuẩn vận hành.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736592" y="1481328"/>
            <a:ext cx="3904488" cy="2999232"/>
          </a:xfrm>
          <a:prstGeom prst="roundRect">
            <a:avLst>
              <a:gd name="adj" fmla="val 2439"/>
            </a:avLst>
          </a:prstGeom>
          <a:solidFill>
            <a:srgbClr val="102A43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56048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chủ đạo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“Kiểm chứng trước, so sánh sau.”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956048" y="3154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so sánh hiệu năng giữa các phiên bản đã được chứng minh tương đương số học. Cùng O(|E|)/vòng nên khác biệt là hằng số — và hằng số đó phụ thuộc framework.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TRUNG THỰC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 chế &amp; hướng phát triển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041648" cy="2999232"/>
          </a:xfrm>
          <a:prstGeom prst="roundRect">
            <a:avLst>
              <a:gd name="adj" fmla="val 2439"/>
            </a:avLst>
          </a:prstGeom>
          <a:solidFill>
            <a:srgbClr val="EEF3F8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 chế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hiệu năng ở mức đơn nút → đo overhead framework, chưa đo khả năng mở rộng phân tán.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Java, Pig đã được kiểm chứng đúng đắn nhưng chưa đo ở quy mô cluster trong báo cáo này.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JVM/Streaming 1-lượt bỏ dangling mass (chỉ đúng khi mọi đỉnh có liên kết ra).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36592" y="1481328"/>
            <a:ext cx="3904488" cy="2999232"/>
          </a:xfrm>
          <a:prstGeom prst="roundRect">
            <a:avLst>
              <a:gd name="adj" fmla="val 2439"/>
            </a:avLst>
          </a:prstGeom>
          <a:solidFill>
            <a:srgbClr val="F7FAFC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9AA8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56048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74336" y="2066544"/>
            <a:ext cx="3456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đa nút trên đồ thị 10⁶–10⁷ cạnh (vd. SNAP), báo cáo strong/weak scaling cho Spark.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phân phối dangling mass trong job JVM/Streaming 1-lượt qua bước gộp toàn cục.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Topic-Sensitive PageRank.</a:t>
            </a:r>
            <a:endParaRPr lang="en-US" sz="120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với engine vertex-centric như GraphX.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Nghiên cứu so sánh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first, then compare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7818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so sánh một-codebase, neo bởi reference engine + oracle NetworkX độc lập.</a:t>
            </a:r>
            <a:endParaRPr lang="en-US" sz="135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phiên bản tương đương số học tới mức sàn output (~10⁻⁸–10⁻⁹).</a:t>
            </a:r>
            <a:endParaRPr lang="en-US" sz="135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in-memory thắng ở cỡ vừa bộ nhớ; framework phân tán thêm chi phí, chỉ hoàn vốn ở quy mô lớn.</a:t>
            </a:r>
            <a:endParaRPr lang="en-US" sz="1350" dirty="0"/>
          </a:p>
          <a:p>
            <a:pPr marL="177800" indent="-1778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thêm: catalogue lỗi kỹ thuật xuyên framework + harness mở rộng được tới cluster.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3977640"/>
            <a:ext cx="54864" cy="64008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95020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— Xin mời câu hỏi (Q&amp;A)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Van Hung Cuong · doanvanhungcuong@gmail.com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PageRank tren he sinh thai Hadoop</dc:title>
  <dc:subject>PptxGenJS Presentation</dc:subject>
  <dc:creator>Doan Van Hung Cuong</dc:creator>
  <cp:lastModifiedBy>Doan Van Hung Cuong</cp:lastModifiedBy>
  <cp:revision>1</cp:revision>
  <dcterms:created xsi:type="dcterms:W3CDTF">2026-05-23T14:37:18Z</dcterms:created>
  <dcterms:modified xsi:type="dcterms:W3CDTF">2026-05-23T14:37:18Z</dcterms:modified>
</cp:coreProperties>
</file>
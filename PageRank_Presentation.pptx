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63256" y="996696"/>
            <a:ext cx="640080" cy="640080"/>
          </a:xfrm>
          <a:prstGeom prst="line">
            <a:avLst/>
          </a:prstGeom>
          <a:noFill/>
          <a:ln w="19050">
            <a:solidFill>
              <a:srgbClr val="2A476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63256" y="996696"/>
            <a:ext cx="-365760" cy="1005840"/>
          </a:xfrm>
          <a:prstGeom prst="line">
            <a:avLst/>
          </a:prstGeom>
          <a:noFill/>
          <a:ln w="19050">
            <a:solidFill>
              <a:srgbClr val="2A47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03336" y="1636776"/>
            <a:ext cx="-91440" cy="1097280"/>
          </a:xfrm>
          <a:prstGeom prst="line">
            <a:avLst/>
          </a:prstGeom>
          <a:noFill/>
          <a:ln w="19050">
            <a:solidFill>
              <a:srgbClr val="2A476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97496" y="2002536"/>
            <a:ext cx="-274320" cy="822960"/>
          </a:xfrm>
          <a:prstGeom prst="line">
            <a:avLst/>
          </a:prstGeom>
          <a:noFill/>
          <a:ln w="19050">
            <a:solidFill>
              <a:srgbClr val="2A47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1896" y="2734056"/>
            <a:ext cx="-365760" cy="731520"/>
          </a:xfrm>
          <a:prstGeom prst="line">
            <a:avLst/>
          </a:prstGeom>
          <a:noFill/>
          <a:ln w="19050">
            <a:solidFill>
              <a:srgbClr val="2A476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23176" y="2825496"/>
            <a:ext cx="822960" cy="640080"/>
          </a:xfrm>
          <a:prstGeom prst="line">
            <a:avLst/>
          </a:prstGeom>
          <a:noFill/>
          <a:ln w="19050">
            <a:solidFill>
              <a:srgbClr val="2A47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97496" y="2002536"/>
            <a:ext cx="914400" cy="731520"/>
          </a:xfrm>
          <a:prstGeom prst="line">
            <a:avLst/>
          </a:prstGeom>
          <a:noFill/>
          <a:ln w="19050">
            <a:solidFill>
              <a:srgbClr val="2A47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914400"/>
            <a:ext cx="274320" cy="274320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10" name="Shape 8"/>
          <p:cNvSpPr/>
          <p:nvPr/>
        </p:nvSpPr>
        <p:spPr>
          <a:xfrm>
            <a:off x="8321040" y="1554480"/>
            <a:ext cx="182880" cy="18288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0" y="1920240"/>
            <a:ext cx="146304" cy="146304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12" name="Shape 10"/>
          <p:cNvSpPr/>
          <p:nvPr/>
        </p:nvSpPr>
        <p:spPr>
          <a:xfrm>
            <a:off x="8229600" y="2651760"/>
            <a:ext cx="237744" cy="237744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0" y="3383280"/>
            <a:ext cx="164592" cy="164592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14" name="Shape 12"/>
          <p:cNvSpPr/>
          <p:nvPr/>
        </p:nvSpPr>
        <p:spPr>
          <a:xfrm>
            <a:off x="7040880" y="2743200"/>
            <a:ext cx="128016" cy="128016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105156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ĐỒ ÁN · BIG DATA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14173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PageRank trên hệ sinh thái Hadoop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640080" y="2395728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Nghiên cứu so sánh hiệu năng &amp; khả năng mở rộng của các framework trên cùng một thuật toán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8368" y="3611880"/>
            <a:ext cx="54864" cy="86868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566160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 Van Hung Cuong
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FPT University
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cuongdvh25msa13245@fpt.edu.vn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46863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D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0.85   ·   ε = 10⁻³   ·   Barabási–Albert (m = 3)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TRÌNH BÀY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Chúng ta sẽ đi qua sáu phần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4041648" cy="960120"/>
          </a:xfrm>
          <a:prstGeom prst="roundRect">
            <a:avLst>
              <a:gd name="adj" fmla="val 7619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67512" y="159105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7048" y="1572768"/>
            <a:ext cx="2871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 &amp; thuật toán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PageRank, công thức, dangling node, hội tụ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965192" y="1481328"/>
            <a:ext cx="4041648" cy="960120"/>
          </a:xfrm>
          <a:prstGeom prst="roundRect">
            <a:avLst>
              <a:gd name="adj" fmla="val 7619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129784" y="159105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989320" y="1572768"/>
            <a:ext cx="2871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cách triển khai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phiên bản: Core, mrjob, PySpark, Streaming, Java, Pig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4041648" cy="960120"/>
          </a:xfrm>
          <a:prstGeom prst="roundRect">
            <a:avLst>
              <a:gd name="adj" fmla="val 7619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" y="271576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527048" y="2697480"/>
            <a:ext cx="2871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pháp thực nghiệm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dữ liệu, oracle NetworkX, chỉ số đánh giá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965192" y="2606040"/>
            <a:ext cx="4041648" cy="960120"/>
          </a:xfrm>
          <a:prstGeom prst="roundRect">
            <a:avLst>
              <a:gd name="adj" fmla="val 7619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29784" y="271576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989320" y="2697480"/>
            <a:ext cx="2871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đúng đắn, hội tụ, hiệu năng, bộ nhớ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3730752"/>
            <a:ext cx="4041648" cy="960120"/>
          </a:xfrm>
          <a:prstGeom prst="roundRect">
            <a:avLst>
              <a:gd name="adj" fmla="val 7619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" y="38404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527048" y="3822192"/>
            <a:ext cx="2871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học kỹ thuật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lỗi xuyên framework &amp; cách khắc phục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965192" y="3730752"/>
            <a:ext cx="4041648" cy="960120"/>
          </a:xfrm>
          <a:prstGeom prst="roundRect">
            <a:avLst>
              <a:gd name="adj" fmla="val 7619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129784" y="38404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5989320" y="3822192"/>
            <a:ext cx="2871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 &amp; hướng phát triển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framework nào, hạn chế, công việc tương lai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PageRank: đơn giản về ý tưởng, phức tạp khi mở rộng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là gì?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bước đi ngẫu nhiên có hãm (damped random walk); phân phối dừng của nó cho điểm số mỗi đỉnh.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228600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tiêu biểu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7860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kiếm web (web search)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gợi ý (recommendation)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gian lận (fraud detection)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trích dẫn (citation analysis)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32120" y="1417320"/>
            <a:ext cx="3108960" cy="3063240"/>
          </a:xfrm>
          <a:prstGeom prst="roundRect">
            <a:avLst>
              <a:gd name="adj" fmla="val 2388"/>
            </a:avLst>
          </a:prstGeom>
          <a:solidFill>
            <a:srgbClr val="102A43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742432" y="16276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Vấn đề thực tế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742432" y="205740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thuật toán có thể viết bằng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7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mô hình lập trình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MapReduce, Hadoop Streaming, Pig, Spark (RDD/DataFrame), mrjob.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742432" y="315468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Nhưng hệ quả — độ chính xác, thời gian, bộ nhớ, công sức lập trình —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D9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hiếm khi được đo song song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trong cùng điều kiện.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&amp; ĐÓNG GÓP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Bốn đóng góp chính của đồ án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4041648" cy="1371600"/>
          </a:xfrm>
          <a:prstGeom prst="roundRect">
            <a:avLst>
              <a:gd name="adj" fmla="val 5333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45920"/>
            <a:ext cx="365760" cy="36576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609344"/>
            <a:ext cx="3172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engine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2029968"/>
            <a:ext cx="3639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Python thuần, không phụ thuộc; hỗ trợ PageRank chuẩn / có trọng số / cá nhân hóa, xử lý dangling đúng — làm nguồn chân lý (ground truth).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965192" y="1463040"/>
            <a:ext cx="4041648" cy="1371600"/>
          </a:xfrm>
          <a:prstGeom prst="roundRect">
            <a:avLst>
              <a:gd name="adj" fmla="val 5333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48072" y="1645920"/>
            <a:ext cx="365760" cy="36576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1" name="Text 9"/>
          <p:cNvSpPr/>
          <p:nvPr/>
        </p:nvSpPr>
        <p:spPr>
          <a:xfrm>
            <a:off x="5148072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50992" y="1609344"/>
            <a:ext cx="3172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Phương pháp kiểm chứng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66360" y="2029968"/>
            <a:ext cx="3639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minh 6 phiên bản tương đương số học so với oracle độc lập (NetworkX) ở mức ~10⁻⁹.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017520"/>
            <a:ext cx="4041648" cy="1371600"/>
          </a:xfrm>
          <a:prstGeom prst="roundRect">
            <a:avLst>
              <a:gd name="adj" fmla="val 5333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200400"/>
            <a:ext cx="365760" cy="36576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3163824"/>
            <a:ext cx="3172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sánh hiệu năng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" y="3584448"/>
            <a:ext cx="3639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Đo thời gian &amp; khả năng mở rộng đơn nút bằng một harness điều khiển bằng cấu hình, có thể tái lập.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65192" y="3017520"/>
            <a:ext cx="4041648" cy="1371600"/>
          </a:xfrm>
          <a:prstGeom prst="roundRect">
            <a:avLst>
              <a:gd name="adj" fmla="val 5333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148072" y="3200400"/>
            <a:ext cx="365760" cy="36576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21" name="Text 19"/>
          <p:cNvSpPr/>
          <p:nvPr/>
        </p:nvSpPr>
        <p:spPr>
          <a:xfrm>
            <a:off x="5148072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650992" y="3163824"/>
            <a:ext cx="3172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Catalogue lỗi kỹ thuật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166360" y="3584448"/>
            <a:ext cx="3639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hợp các lỗi cụ thể khi port thuật toán giữa các framework, kèm nguyên nhân gốc &amp; cách sửa.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Mô hình “người lướt web ngẫu nhiên”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xác suất </a:t>
            </a:r>
            <a:pPr indent="0" marL="0">
              <a:lnSpc>
                <a:spcPct val="110000"/>
              </a:lnSpc>
              <a:buNone/>
            </a:pPr>
            <a:r>
              <a:rPr lang="en-US" sz="1350" b="1" i="1" dirty="0">
                <a:solidFill>
                  <a:srgbClr val="1C5D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đi theo một liên kết ra của trang hiện tại.
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xác suất </a:t>
            </a:r>
            <a:pPr indent="0" marL="0">
              <a:lnSpc>
                <a:spcPct val="110000"/>
              </a:lnSpc>
              <a:buNone/>
            </a:pPr>
            <a:r>
              <a:rPr lang="en-US" sz="1350" b="1" i="1" dirty="0">
                <a:solidFill>
                  <a:srgbClr val="1C5D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d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“teleport” tới một trang theo phân phối p(u).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4754880" cy="1417320"/>
          </a:xfrm>
          <a:prstGeom prst="roundRect">
            <a:avLst>
              <a:gd name="adj" fmla="val 5161"/>
            </a:avLst>
          </a:prstGeom>
          <a:solidFill>
            <a:srgbClr val="EEF3F8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95728"/>
            <a:ext cx="438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</a:t>
            </a:r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ₖ₊₁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(u) = (1 − d)·p(u)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d · Σ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v→u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w(v,u)/W(v) · PR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ₖ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(v)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d · p(u) · Σ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v∈D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ₖ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532120" y="13716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công thức — ba biến thể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32120" y="1755648"/>
            <a:ext cx="3108960" cy="749808"/>
          </a:xfrm>
          <a:prstGeom prst="roundRect">
            <a:avLst>
              <a:gd name="adj" fmla="val 9756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24144" y="182880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(standard)
</a:t>
            </a:r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trọng số, p đều = 1/N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32120" y="2624328"/>
            <a:ext cx="3108960" cy="749808"/>
          </a:xfrm>
          <a:prstGeom prst="roundRect">
            <a:avLst>
              <a:gd name="adj" fmla="val 9756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724144" y="269748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trọng số (weighted)
</a:t>
            </a:r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là trọng số cạnh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532120" y="3493008"/>
            <a:ext cx="3108960" cy="749808"/>
          </a:xfrm>
          <a:prstGeom prst="roundRect">
            <a:avLst>
              <a:gd name="adj" fmla="val 9756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724144" y="356616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 nhân hóa (personalized)
</a:t>
            </a:r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là vector xác suất bất kỳ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TIẾT QUAN TRỌNG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Dangling node &amp; tính tự chuẩn hóa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4041648" cy="3017520"/>
          </a:xfrm>
          <a:prstGeom prst="roundRect">
            <a:avLst>
              <a:gd name="adj" fmla="val 2424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6276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Dangling node (không có liên kết ra)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084832"/>
            <a:ext cx="36393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rò rỉ khối xác suất (probability mass) khỏi hệ.
</a:t>
            </a:r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Khắc phục: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phân phối khối lượng của chúng qua phân phối teleport p(u), giữ Σ PR(u) = 1.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36592" y="1463040"/>
            <a:ext cx="3904488" cy="3017520"/>
          </a:xfrm>
          <a:prstGeom prst="roundRect">
            <a:avLst>
              <a:gd name="adj" fmla="val 2424"/>
            </a:avLst>
          </a:prstGeom>
          <a:solidFill>
            <a:srgbClr val="102A43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6276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Tính tự chuẩn hóa (self-normalization)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0" y="208483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khối lượng tuân theo: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937760" y="2432304"/>
            <a:ext cx="3493008" cy="566928"/>
          </a:xfrm>
          <a:prstGeom prst="roundRect">
            <a:avLst>
              <a:gd name="adj" fmla="val 12903"/>
            </a:avLst>
          </a:prstGeom>
          <a:solidFill>
            <a:srgbClr val="1B3A5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2468880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0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Sₖ₊₁ = (1 − d) + d · Sₖ   ⟹   S = 1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937760" y="31546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luôn hội tụ về 1 bất kể vector khởi tạo.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9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Nhờ vậy bản Java có thể khởi tạo rank = 1.0 thay vì 1/N mà vẫn hội tụ đúng.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DỪNG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Hội tụ &amp; độ phức tạp tính toán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37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5D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Δₖ &lt; ε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Lặp đến khi sai khác L1 giữa hai vòng nhỏ hơn ngưỡng ε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47288" y="155448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84448" y="1737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ε = 10⁻³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30168" y="239572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hội tụ mặc định dùng cho mọi phiên bản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91656" y="155448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28816" y="1737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77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O(|E|)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574536" y="239572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phí mỗi vòng lặp tỉ lệ với số cạnh của đồ thị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Δₖ = Σ</a:t>
            </a:r>
            <a:pPr algn="ctr" indent="0" marL="0">
              <a:buNone/>
            </a:pPr>
            <a:r>
              <a:rPr lang="en-US" sz="11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pPr algn="ctr" indent="0" marL="0">
              <a:buNone/>
            </a:pPr>
            <a:r>
              <a:rPr lang="en-US" sz="140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 PRₖ(u) − PRₖ₋₁(u) |   </a:t>
            </a:r>
            <a:pPr algn="ctr" indent="0" marL="0">
              <a:buNone/>
            </a:pPr>
            <a:r>
              <a:rPr lang="en-US" sz="1400" i="1" dirty="0">
                <a:solidFill>
                  <a:srgbClr val="5B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với đồ thị minh họa, thuật toán hội tụ sau 13 vòng lặp.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Các mô hình thực thi được khảo sát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70048" cy="1417320"/>
          </a:xfrm>
          <a:prstGeom prst="roundRect">
            <a:avLst>
              <a:gd name="adj" fmla="val 5161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67512" y="159105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5D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MapReduce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67512" y="1975104"/>
            <a:ext cx="234086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phân phối rank theo liên kết ra; Reduce gộp đóng góp đến. Mẫu thiết kế kinh điển (Lin &amp; Dyer).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3419856" y="1463040"/>
            <a:ext cx="2670048" cy="1417320"/>
          </a:xfrm>
          <a:prstGeom prst="roundRect">
            <a:avLst>
              <a:gd name="adj" fmla="val 5161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84448" y="159105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5D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Hadoop Streaming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584448" y="1975104"/>
            <a:ext cx="234086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Đưa mô hình MapReduce ra cho chương trình bất kỳ qua stdin/stdout.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336792" y="1463040"/>
            <a:ext cx="2670048" cy="1417320"/>
          </a:xfrm>
          <a:prstGeom prst="roundRect">
            <a:avLst>
              <a:gd name="adj" fmla="val 5161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01384" y="159105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5D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Apache Pig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501384" y="1975104"/>
            <a:ext cx="234086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Latin: kịch bản dataflow quan hệ, biên dịch xuống MapReduce.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02920" y="3044952"/>
            <a:ext cx="2670048" cy="1417320"/>
          </a:xfrm>
          <a:prstGeom prst="roundRect">
            <a:avLst>
              <a:gd name="adj" fmla="val 5161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" y="31729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5D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Apache Spark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67512" y="3557016"/>
            <a:ext cx="234086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tập làm việc trong bộ nhớ qua các vòng lặp (RDD); DataFrame thêm tối ưu Catalyst.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3419856" y="3044952"/>
            <a:ext cx="2670048" cy="1417320"/>
          </a:xfrm>
          <a:prstGeom prst="roundRect">
            <a:avLst>
              <a:gd name="adj" fmla="val 5161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584448" y="31729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5D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mrjob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584448" y="3557016"/>
            <a:ext cx="234086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Bọc MapReduce cho Python; chạy inline / local / Hadoop.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336792" y="3044952"/>
            <a:ext cx="2670048" cy="1417320"/>
          </a:xfrm>
          <a:prstGeom prst="roundRect">
            <a:avLst>
              <a:gd name="adj" fmla="val 5161"/>
            </a:avLst>
          </a:prstGeom>
          <a:solidFill>
            <a:srgbClr val="EEF3F8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01384" y="31729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Tập trung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01384" y="3557016"/>
            <a:ext cx="234086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Khảo sát các framework đa dụng mà đội data thường vận hành — không phải engine chuyên đồ thị.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CÁCH TRIỂN KHAI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Tám phiên bản — cùng một thuật toán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783080"/>
                <a:gridCol w="1371600"/>
                <a:gridCol w="1783080"/>
                <a:gridCol w="1417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Phiên bản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 /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Phụ thuộc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Dangling mass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đích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(Python)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Lặp trong bộ nhớ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Tái phân phối (đúng)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Đơn nút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mrjob (core)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engine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mrjob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Tái phân phối (đúng)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Đơn nút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mrjob (MapReduce)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MapReduce 1 lượt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mrjob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Bỏ qua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/ Hadoop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PySpark RDD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Biến đổi RDD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PySpark, JVM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Tái phân phối (đúng)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Spark cluster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PySpark DataFrame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 hệ / Catalyst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PySpark, JVM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Tái phân phối (đúng)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Spark cluster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Hadoop Streaming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MapReduce qua stdio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Hadoop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Bỏ qua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Hadoop cluster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MapReduce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Hadoop MapReduce 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Hadoop, JVM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Bỏ qua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Hadoop cluster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Pig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Pig Latin dataflow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Pig, Hadoop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Bỏ qua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Hadoop cluster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 Python (Core, mrjob-core, PySpark) tái phân phối dangling mass → đúng cho mọi đồ thị. Họ JVM/Hadoop 1-lượt bỏ dangling mass → đúng khi mọi đỉnh đều có liên kết ra.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TIẾT TRIỂN KHAI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Họ Python — chính xác cho mọi đồ thị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932688"/>
          </a:xfrm>
          <a:prstGeom prst="roundRect">
            <a:avLst>
              <a:gd name="adj" fmla="val 7843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37360"/>
            <a:ext cx="384048" cy="384048"/>
          </a:xfrm>
          <a:prstGeom prst="ellipse">
            <a:avLst/>
          </a:prstGeom>
          <a:solidFill>
            <a:srgbClr val="1C5D99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07008" y="155448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engine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207008" y="1847088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Python thuần hiện thực trực tiếp công thức, đủ 3 biến thể, trả về lịch sử hội tụ, có CLI. Là oracle, được kiểm chứng lại bằng networkx.pagerank.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8138160" cy="932688"/>
          </a:xfrm>
          <a:prstGeom prst="roundRect">
            <a:avLst>
              <a:gd name="adj" fmla="val 7843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6656" y="2779776"/>
            <a:ext cx="384048" cy="384048"/>
          </a:xfrm>
          <a:prstGeom prst="ellipse">
            <a:avLst/>
          </a:prstGeom>
          <a:solidFill>
            <a:srgbClr val="1C5D99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07008" y="259689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mrjob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207008" y="2889504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nhánh: nhánh core gọi reference engine (chính xác); nhánh MapReduce chạy job 1-lượt thật — mapper phát bản ghi cấu trúc + đóng góp rank, reducer áp dụng công thức.</a:t>
            </a:r>
            <a:endParaRPr lang="en-US" sz="1130" dirty="0"/>
          </a:p>
        </p:txBody>
      </p:sp>
      <p:sp>
        <p:nvSpPr>
          <p:cNvPr id="14" name="Shape 12"/>
          <p:cNvSpPr/>
          <p:nvPr/>
        </p:nvSpPr>
        <p:spPr>
          <a:xfrm>
            <a:off x="502920" y="3547872"/>
            <a:ext cx="8138160" cy="932688"/>
          </a:xfrm>
          <a:prstGeom prst="roundRect">
            <a:avLst>
              <a:gd name="adj" fmla="val 7843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822192"/>
            <a:ext cx="384048" cy="384048"/>
          </a:xfrm>
          <a:prstGeom prst="ellipse">
            <a:avLst/>
          </a:prstGeom>
          <a:solidFill>
            <a:srgbClr val="1C5D99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07008" y="363931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PySpark (RDD &amp; DataFrame)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207008" y="3931920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RDD: join adjacency với vector rank mỗi vòng, reduce theo key. DataFrame: diễn đạt quan hệ để Catalyst tối ưu. Cả hai tái phân phối dangling mass và cắt lineage mỗi vòng.</a:t>
            </a:r>
            <a:endParaRPr lang="en-US" sz="113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TIẾT TRIỂN KHAI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Họ JVM / Hadoop &amp; thiết kế dangling-mass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664208"/>
            <a:ext cx="384048" cy="384048"/>
          </a:xfrm>
          <a:prstGeom prst="ellipse">
            <a:avLst/>
          </a:prstGeom>
          <a:solidFill>
            <a:srgbClr val="D9772B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07008" y="153619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Hadoop Streaming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07008" y="181051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Initializer phát trạng thái mỗi đỉnh; mapper &amp; reducer Python cho 1 vòng; driver shell nối init | map | sort | reduce, kèm chế độ mô phỏng cục bộ để kiểm thử.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6656" y="2560320"/>
            <a:ext cx="384048" cy="384048"/>
          </a:xfrm>
          <a:prstGeom prst="ellipse">
            <a:avLst/>
          </a:prstGeom>
          <a:solidFill>
            <a:srgbClr val="D9772B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07008" y="2432304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Java MapReduce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27066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3 giai đoạn (khởi tạo đồ thị, cập nhật lặp, sắp xếp giảm dần); dùng Hadoop counters theo dõi Δ (L1). Khởi tạo rank = 1.0 (nhờ tự chuẩn hóa).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9302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456432"/>
            <a:ext cx="384048" cy="384048"/>
          </a:xfrm>
          <a:prstGeom prst="ellipse">
            <a:avLst/>
          </a:prstGeom>
          <a:solidFill>
            <a:srgbClr val="D9772B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07008" y="3328416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Apache Pig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360273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kịch bản Pig Latin (init, iterate, sort) diễn đạt cùng dataflow theo kiểu khai báo.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2245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phân phối dangling mass toàn cục trong một lượt MapReduce </a:t>
            </a:r>
            <a:pPr indent="0" marL="0">
              <a:buNone/>
            </a:pPr>
            <a:r>
              <a:rPr lang="en-US" sz="1150" b="1" i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thêm bước gộp/broadcast — để dành cho công việc tương lai.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PHÁP THỰC NGHIỆM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Tập dữ liệu, oracle, chỉ số &amp; môi trường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70048" cy="3017520"/>
          </a:xfrm>
          <a:prstGeom prst="rect">
            <a:avLst/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63040"/>
            <a:ext cx="2670048" cy="457200"/>
          </a:xfrm>
          <a:prstGeom prst="rect">
            <a:avLst/>
          </a:prstGeom>
          <a:solidFill>
            <a:srgbClr val="1C5D99"/>
          </a:solidFill>
          <a:ln/>
        </p:spPr>
      </p:sp>
      <p:sp>
        <p:nvSpPr>
          <p:cNvPr id="6" name="Text 4"/>
          <p:cNvSpPr/>
          <p:nvPr/>
        </p:nvSpPr>
        <p:spPr>
          <a:xfrm>
            <a:off x="649224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Tập dữ liệu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2029968"/>
            <a:ext cx="230428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thị có hướng Barabási–Albert (m = 3, seed cố định) — phân phối bậc lũy thừa, giống web/MXH</a:t>
            </a:r>
            <a:endParaRPr lang="en-US" sz="11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∈ {10³, 5×10³, 10⁴, 5×10⁴} (tới 1.7×10⁵ cạnh)</a:t>
            </a:r>
            <a:endParaRPr lang="en-US" sz="11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thị 10 đỉnh &amp; đồ thị có dangling để kiểm tra tính đúng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9856" y="1463040"/>
            <a:ext cx="2670048" cy="3017520"/>
          </a:xfrm>
          <a:prstGeom prst="rect">
            <a:avLst/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19856" y="1463040"/>
            <a:ext cx="2670048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 truth &amp; chỉ số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02736" y="2029968"/>
            <a:ext cx="230428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độc lập: networkx.pagerank (SciPy), tol = 10⁻¹²</a:t>
            </a:r>
            <a:endParaRPr lang="en-US" sz="11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số tuyệt đối lớn nhất mỗi đỉnh; Δ (L1) mỗi vòng; số vòng hội tụ</a:t>
            </a:r>
            <a:endParaRPr lang="en-US" sz="11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chạy (wall-clock) &amp; bộ nhớ đỉnh (peak RSS)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36792" y="1463040"/>
            <a:ext cx="2670048" cy="3017520"/>
          </a:xfrm>
          <a:prstGeom prst="rect">
            <a:avLst/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1463040"/>
            <a:ext cx="2670048" cy="457200"/>
          </a:xfrm>
          <a:prstGeom prst="rect">
            <a:avLst/>
          </a:prstGeom>
          <a:solidFill>
            <a:srgbClr val="D9772B"/>
          </a:solidFill>
          <a:ln/>
        </p:spPr>
      </p:sp>
      <p:sp>
        <p:nvSpPr>
          <p:cNvPr id="14" name="Text 12"/>
          <p:cNvSpPr/>
          <p:nvPr/>
        </p:nvSpPr>
        <p:spPr>
          <a:xfrm>
            <a:off x="6483096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Môi trường &amp; tái lập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519672" y="2029968"/>
            <a:ext cx="230428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Linux đơn nút (Ubuntu 22.04, CPython 3.10); mỗi cấu hình chạy 3 lần (mean ± std)</a:t>
            </a:r>
            <a:endParaRPr lang="en-US" sz="11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điều khiển bằng cấu hình, tự bỏ qua framework thiếu runtime</a:t>
            </a:r>
            <a:endParaRPr lang="en-US" sz="11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CI build/test/lint mỗi commit; mọi số liệu là đo thật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(1/4)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Tính đúng đắn: tương đương số học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45720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 sánh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max |Δ|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vs NetworkX — chuẩn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 × 10⁻¹²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vs NetworkX — cá nhân hóa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 × 10⁻¹²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vs NetworkX — có trọng số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 × 10⁻¹²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vs NetworkX — đồ thị 10³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× 10⁻¹²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vs NetworkX — dangling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 × 10⁻¹³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mrjob (core/MR) vs Core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 × 10⁻⁹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Hadoop Streaming vs Core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 × 10⁻⁸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newfigs/accurac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49240" y="1481328"/>
            <a:ext cx="3246120" cy="2743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41605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khớp NetworkX ở mức 10⁻¹².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bản phân tán khớp Core ở mức 10⁻⁹–10⁻⁸ — đúng bằng sàn do lưu rank với 8 chữ số thập phân.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(2/4)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Hội tụ: Δ (L1) giảm đơn điệu</a:t>
            </a:r>
            <a:endParaRPr lang="en-US" sz="2700" dirty="0"/>
          </a:p>
        </p:txBody>
      </p:sp>
      <p:pic>
        <p:nvPicPr>
          <p:cNvPr id="4" name="Image 0" descr="newfigs/converg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92040" y="1417320"/>
            <a:ext cx="370332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50876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6656" y="1773936"/>
            <a:ext cx="384048" cy="384048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" y="1773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207008" y="1618488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Giảm đơn điệu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khác L1 giữa hai vòng liên tiếp giảm đều theo từng bước lặp.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532888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76656" y="2798064"/>
            <a:ext cx="384048" cy="384048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1" name="Text 8"/>
          <p:cNvSpPr/>
          <p:nvPr/>
        </p:nvSpPr>
        <p:spPr>
          <a:xfrm>
            <a:off x="676656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207008" y="2642616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Vượt ngưỡng tại vòng 13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đồ thị minh họa, Δ cắt ε = 10⁻³ ở vòng lặp thứ 13.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557016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3822192"/>
            <a:ext cx="384048" cy="384048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5" name="Text 12"/>
          <p:cNvSpPr/>
          <p:nvPr/>
        </p:nvSpPr>
        <p:spPr>
          <a:xfrm>
            <a:off x="676656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07008" y="3666744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phí mỗi vòng O(|E|)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phiên bản đều cùng độ phức tạp tiệm cận — khác biệt nằm ở hằng số.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(3/4)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Hiệu năng đơn nút (30 vòng lặp)</a:t>
            </a:r>
            <a:endParaRPr lang="en-US" sz="2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45720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960120"/>
                <a:gridCol w="960120"/>
                <a:gridCol w="9601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N=10³</a:t>
                      </a:r>
                      <a:endParaRPr lang="en-US" sz="10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N=5×10³</a:t>
                      </a:r>
                      <a:endParaRPr lang="en-US" sz="10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N=10⁴</a:t>
                      </a:r>
                      <a:endParaRPr lang="en-US" sz="10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(Python)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 / 13.4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 / 18.4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 / 24.6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mrjob (core)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 / 24.2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 / 29.3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 / 35.4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mrjob (MapReduce)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4.89 / 29.7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13.26 / 39.9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28.32 / 52.0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Hadoop Streaming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 / 9.5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 / 11.7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4.98 / 13.8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5204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ô = thời gian (s) / bộ nhớ đỉnh (MB); engine in-memory mở rộng tới 5×10⁴ nút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3840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in-memory nhanh nhất. </a:t>
            </a:r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mrjob-core overhead giảm dần (1.7×→≈1×); Hadoop Streaming chậm ~8–14×; bản mrjob MapReduce thật chậm ~44–49× vì spawn một job mới mỗi vòng lặp.</a:t>
            </a:r>
            <a:endParaRPr lang="en-US" sz="1100" dirty="0"/>
          </a:p>
        </p:txBody>
      </p:sp>
      <p:pic>
        <p:nvPicPr>
          <p:cNvPr id="7" name="Image 0" descr="newfigs/runtime_scal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57800" y="1463040"/>
            <a:ext cx="3383280" cy="30175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(4/4)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Speedup &amp; bộ nhớ — đánh đổi thời gian–bộ nhớ</a:t>
            </a:r>
            <a:endParaRPr lang="en-US" sz="2700" dirty="0"/>
          </a:p>
        </p:txBody>
      </p:sp>
      <p:pic>
        <p:nvPicPr>
          <p:cNvPr id="4" name="Image 0" descr="newfigs/speed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81328"/>
            <a:ext cx="3886200" cy="2651760"/>
          </a:xfrm>
          <a:prstGeom prst="rect">
            <a:avLst/>
          </a:prstGeom>
        </p:spPr>
      </p:pic>
      <p:pic>
        <p:nvPicPr>
          <p:cNvPr id="5" name="Image 1" descr="newfigs/memory_scal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1481328"/>
            <a:ext cx="3886200" cy="2651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2062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so với Core (Python): &lt; 1 nghĩa là chậm hơn — overhead framework chi phối ở cỡ đơn nút.</a:t>
            </a:r>
            <a:endParaRPr lang="en-US" sz="1030" dirty="0"/>
          </a:p>
        </p:txBody>
      </p:sp>
      <p:sp>
        <p:nvSpPr>
          <p:cNvPr id="7" name="Text 3"/>
          <p:cNvSpPr/>
          <p:nvPr/>
        </p:nvSpPr>
        <p:spPr>
          <a:xfrm>
            <a:off x="4709160" y="42062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nhớ đỉnh: Hadoop Streaming nhỏ nhất — đổi thời gian lấy footprint nhỏ (streaming thay vì giữ toàn đồ thị).</a:t>
            </a:r>
            <a:endParaRPr lang="en-US" sz="1030" dirty="0"/>
          </a:p>
        </p:txBody>
      </p:sp>
      <p:sp>
        <p:nvSpPr>
          <p:cNvPr id="8" name="Text 4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THẢO LUẬN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Bốn bài học kỹ thuật xuyên framework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4041648" cy="1371600"/>
          </a:xfrm>
          <a:prstGeom prst="roundRect">
            <a:avLst>
              <a:gd name="adj" fmla="val 5333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45920"/>
            <a:ext cx="365760" cy="365760"/>
          </a:xfrm>
          <a:prstGeom prst="ellipse">
            <a:avLst/>
          </a:prstGeom>
          <a:solidFill>
            <a:srgbClr val="D9772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609344"/>
            <a:ext cx="3172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Lineage của Spark phải bị cắt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04088" y="2011680"/>
            <a:ext cx="3639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Self-join mỗi vòng làm query plan phình vô hạn → driver hết heap khi chỉ đang dựng plan. Cache không đủ; dùng localCheckpoint() để materialize &amp; cắt lineage.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965192" y="1463040"/>
            <a:ext cx="4041648" cy="1371600"/>
          </a:xfrm>
          <a:prstGeom prst="roundRect">
            <a:avLst>
              <a:gd name="adj" fmla="val 5333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48072" y="1645920"/>
            <a:ext cx="365760" cy="365760"/>
          </a:xfrm>
          <a:prstGeom prst="ellipse">
            <a:avLst/>
          </a:prstGeom>
          <a:solidFill>
            <a:srgbClr val="D9772B"/>
          </a:solidFill>
          <a:ln/>
        </p:spPr>
      </p:sp>
      <p:sp>
        <p:nvSpPr>
          <p:cNvPr id="11" name="Text 9"/>
          <p:cNvSpPr/>
          <p:nvPr/>
        </p:nvSpPr>
        <p:spPr>
          <a:xfrm>
            <a:off x="5148072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50992" y="1609344"/>
            <a:ext cx="3172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Đường dẫn file:// tường minh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166360" y="2011680"/>
            <a:ext cx="3639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phân giải đường dẫn tương đối theo HDFS thay vì đĩa cục bộ → phát URI file:// rõ ràng cho path không có scheme.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02920" y="3017520"/>
            <a:ext cx="4041648" cy="1371600"/>
          </a:xfrm>
          <a:prstGeom prst="roundRect">
            <a:avLst>
              <a:gd name="adj" fmla="val 5333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200400"/>
            <a:ext cx="365760" cy="365760"/>
          </a:xfrm>
          <a:prstGeom prst="ellipse">
            <a:avLst/>
          </a:prstGeom>
          <a:solidFill>
            <a:srgbClr val="D9772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3163824"/>
            <a:ext cx="3172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RDD.localCheckpoint() trả None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04088" y="3566160"/>
            <a:ext cx="3639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 với DataFrame: nó đánh dấu RDD tại chỗ. Gán lại biến → tạo dataset null một cách âm thầm.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965192" y="3017520"/>
            <a:ext cx="4041648" cy="1371600"/>
          </a:xfrm>
          <a:prstGeom prst="roundRect">
            <a:avLst>
              <a:gd name="adj" fmla="val 5333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148072" y="3200400"/>
            <a:ext cx="365760" cy="365760"/>
          </a:xfrm>
          <a:prstGeom prst="ellipse">
            <a:avLst/>
          </a:prstGeom>
          <a:solidFill>
            <a:srgbClr val="D9772B"/>
          </a:solidFill>
          <a:ln/>
        </p:spPr>
      </p:sp>
      <p:sp>
        <p:nvSpPr>
          <p:cNvPr id="21" name="Text 19"/>
          <p:cNvSpPr/>
          <p:nvPr/>
        </p:nvSpPr>
        <p:spPr>
          <a:xfrm>
            <a:off x="5148072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650992" y="3163824"/>
            <a:ext cx="3172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mrjob phụ thuộc distutils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166360" y="3566160"/>
            <a:ext cx="3639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distutils bị bỏ ở Python 3.12 → test harness phải phát hiện &amp; skip trên trình thông dịch mới.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502920" y="455371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lỗi nào là lỗi thuật toán — nhưng mỗi lỗi đều có thể âm thầm làm sai kết quả hoặc sập job trong sản xuất.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KHUYẾN NGHỊ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Chọn framework nào?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4041648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6276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Đồ thị vừa bộ nhớ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01168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 thực in-memory đơn giản &amp; nhanh nhất. Framework phân tán chỉ được biện minh bởi khối lượng dữ liệu, khả năng chịu lỗi và tích hợp cluster — không phải tốc độ đơn nút.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999232"/>
            <a:ext cx="4041648" cy="1481328"/>
          </a:xfrm>
          <a:prstGeom prst="roundRect">
            <a:avLst>
              <a:gd name="adj" fmla="val 4938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1272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5D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Khi cần phân tán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3493008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 API</a:t>
            </a:r>
            <a:pPr indent="0" marL="0">
              <a:buNone/>
            </a:pPr>
            <a:r>
              <a:rPr lang="en-US" sz="11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ngắn gọn nhất, hưởng lợi Catalyst.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713232" y="3822192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RDD API</a:t>
            </a:r>
            <a:pPr indent="0" marL="0">
              <a:buNone/>
            </a:pPr>
            <a:r>
              <a:rPr lang="en-US" sz="11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kiểm soát tường minh nhất.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713232" y="4151376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MapReduce / Streaming / Pig</a:t>
            </a:r>
            <a:pPr indent="0" marL="0">
              <a:buNone/>
            </a:pPr>
            <a:r>
              <a:rPr lang="en-US" sz="11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khi Hadoop đã là chuẩn vận hành.</a:t>
            </a:r>
            <a:endParaRPr lang="en-US" sz="1130" dirty="0"/>
          </a:p>
        </p:txBody>
      </p:sp>
      <p:sp>
        <p:nvSpPr>
          <p:cNvPr id="12" name="Shape 10"/>
          <p:cNvSpPr/>
          <p:nvPr/>
        </p:nvSpPr>
        <p:spPr>
          <a:xfrm>
            <a:off x="4736592" y="1481328"/>
            <a:ext cx="3904488" cy="2999232"/>
          </a:xfrm>
          <a:prstGeom prst="roundRect">
            <a:avLst>
              <a:gd name="adj" fmla="val 2439"/>
            </a:avLst>
          </a:prstGeom>
          <a:solidFill>
            <a:srgbClr val="102A43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56048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chủ đạo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56048" y="21031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“Kiểm chứng trước, so sánh sau.”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4956048" y="315468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so sánh hiệu năng giữa các phiên bản đã được chứng minh tương đương số học. Cùng O(|E|)/vòng nên khác biệt là hằng số — và hằng số đó phụ thuộc framework.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TRUNG THỰC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Hạn chế &amp; hướng phát triển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4041648" cy="2999232"/>
          </a:xfrm>
          <a:prstGeom prst="roundRect">
            <a:avLst>
              <a:gd name="adj" fmla="val 2439"/>
            </a:avLst>
          </a:prstGeom>
          <a:solidFill>
            <a:srgbClr val="EEF3F8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Hạn chế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066544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hiệu năng ở mức đơn nút → đo overhead framework, chưa đo khả năng mở rộng phân tán.</a:t>
            </a:r>
            <a:endParaRPr lang="en-US" sz="120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PySpark, Java, Pig đã được kiểm chứng đúng đắn nhưng chưa đo ở quy mô cluster trong báo cáo này.</a:t>
            </a:r>
            <a:endParaRPr lang="en-US" sz="120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 JVM/Streaming 1-lượt bỏ dangling mass (chỉ đúng khi mọi đỉnh có liên kết ra).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36592" y="1481328"/>
            <a:ext cx="3904488" cy="2999232"/>
          </a:xfrm>
          <a:prstGeom prst="roundRect">
            <a:avLst>
              <a:gd name="adj" fmla="val 2439"/>
            </a:avLst>
          </a:prstGeom>
          <a:solidFill>
            <a:srgbClr val="F7FAFC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9AA8B5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56048" y="1645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Hướng phát triển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74336" y="2066544"/>
            <a:ext cx="34564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Nghiên cứu đa nút trên đồ thị 10⁶–10⁷ cạnh (vd. SNAP), báo cáo strong/weak scaling cho Spark.</a:t>
            </a:r>
            <a:endParaRPr lang="en-US" sz="120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phân phối dangling mass trong job JVM/Streaming 1-lượt qua bước gộp toàn cục.</a:t>
            </a:r>
            <a:endParaRPr lang="en-US" sz="120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Thêm Topic-Sensitive PageRank.</a:t>
            </a:r>
            <a:endParaRPr lang="en-US" sz="120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với engine vertex-centric như GraphX.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· Nghiên cứu so sánh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229600" y="47594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 first, then compare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7818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Nghiên cứu so sánh một-codebase, neo bởi reference engine + oracle NetworkX độc lập.</a:t>
            </a:r>
            <a:endParaRPr lang="en-US" sz="1350" dirty="0"/>
          </a:p>
          <a:p>
            <a:pPr marL="177800" indent="-1778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Sáu phiên bản tương đương số học tới mức sàn output (~10⁻⁸–10⁻⁹).</a:t>
            </a:r>
            <a:endParaRPr lang="en-US" sz="1350" dirty="0"/>
          </a:p>
          <a:p>
            <a:pPr marL="177800" indent="-1778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in-memory thắng ở cỡ vừa bộ nhớ; framework phân tán thêm chi phí, chỉ hoàn vốn ở quy mô lớn.</a:t>
            </a:r>
            <a:endParaRPr lang="en-US" sz="1350" dirty="0"/>
          </a:p>
          <a:p>
            <a:pPr marL="177800" indent="-1778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góp thêm: catalogue lỗi kỹ thuật xuyên framework + harness mở rộng được tới cluster.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58368" y="3977640"/>
            <a:ext cx="54864" cy="64008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3950208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Cảm ơn — Xin mời câu hỏi (Q&amp;A)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 Van Hung Cuong · cuongdvh25msa13245@fpt.edu.vn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PageRank tren he sinh thai Hadoop</dc:title>
  <dc:subject>PptxGenJS Presentation</dc:subject>
  <dc:creator>Doan Van Hung Cuong</dc:creator>
  <cp:lastModifiedBy>Doan Van Hung Cuong</cp:lastModifiedBy>
  <cp:revision>1</cp:revision>
  <dcterms:created xsi:type="dcterms:W3CDTF">2026-05-23T19:47:50Z</dcterms:created>
  <dcterms:modified xsi:type="dcterms:W3CDTF">2026-05-23T19:47:50Z</dcterms:modified>
</cp:coreProperties>
</file>